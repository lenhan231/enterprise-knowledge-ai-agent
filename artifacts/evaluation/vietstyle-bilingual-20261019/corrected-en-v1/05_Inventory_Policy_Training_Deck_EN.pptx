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640080"/>
            <a:ext cx="2743200" cy="14630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960120"/>
            <a:ext cx="1920240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0" y="1280160"/>
            <a:ext cx="3108960" cy="146304"/>
          </a:xfrm>
          <a:prstGeom prst="rect">
            <a:avLst/>
          </a:prstGeom>
          <a:solidFill>
            <a:srgbClr val="60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0584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7FCCDD"/>
                </a:solidFill>
                <a:latin typeface="Aptos"/>
              </a:defRPr>
            </a:pPr>
            <a:r>
              <a:t>VIETSTYLE COMMERCE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INVENTORY CONTROL</a:t>
            </a:r>
          </a:p>
          <a:p>
            <a:pPr algn="l">
              <a:spcAft>
                <a:spcPts val="7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POLICY &amp; OPERATING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DCEAF2"/>
                </a:solidFill>
                <a:latin typeface="Aptos"/>
              </a:defRPr>
            </a:pPr>
            <a:r>
              <a:t>Policy • Procedures • Inventory • Exceptions • Data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DCEAF2"/>
                </a:solidFill>
                <a:latin typeface="Aptos"/>
              </a:defRPr>
            </a:pPr>
            <a:r>
              <a:t>v1.0 | 16 Oct 2026 | Datathon 2026 Simulation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978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FFDA96"/>
                </a:solidFill>
                <a:latin typeface="Aptos"/>
              </a:defRPr>
            </a:pPr>
            <a:r>
              <a:t>For training and process design; this is not an approved policy.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9747E"/>
                </a:solidFill>
                <a:latin typeface="Aptos"/>
              </a:defRPr>
            </a:pPr>
            <a:r>
              <a:t>VietStyle Commerce • Datathon 2026 • Simulation Document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2304A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2304A"/>
                </a:solidFill>
                <a:latin typeface="Aptos"/>
              </a:defRPr>
            </a:pPr>
            <a:r>
              <a:t>01 | Data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The dataset is for simulation and does not reflect current inventory.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98448"/>
            <a:ext cx="100584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2468880" cy="1234440"/>
          </a:xfrm>
          <a:prstGeom prst="roundRect">
            <a:avLst/>
          </a:prstGeom>
          <a:solidFill>
            <a:srgbClr val="EFF4F7"/>
          </a:solidFill>
          <a:ln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0195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176B87"/>
                </a:solidFill>
                <a:latin typeface="Aptos"/>
              </a:defRPr>
            </a:pPr>
            <a:r>
              <a:t>2,412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0487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SKUs in product master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737360"/>
            <a:ext cx="2468880" cy="1234440"/>
          </a:xfrm>
          <a:prstGeom prst="roundRect">
            <a:avLst/>
          </a:prstGeom>
          <a:solidFill>
            <a:srgbClr val="EFF4F7"/>
          </a:solidFill>
          <a:ln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2" y="190195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176B87"/>
                </a:solidFill>
                <a:latin typeface="Aptos"/>
              </a:defRPr>
            </a:pPr>
            <a:r>
              <a:t>60,247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0487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Inventory records across snapshots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737360"/>
            <a:ext cx="2468880" cy="1234440"/>
          </a:xfrm>
          <a:prstGeom prst="roundRect">
            <a:avLst/>
          </a:prstGeom>
          <a:solidFill>
            <a:srgbClr val="EFF4F7"/>
          </a:solidFill>
          <a:ln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90195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176B87"/>
                </a:solidFill>
                <a:latin typeface="Aptos"/>
              </a:defRPr>
            </a:pPr>
            <a:r>
              <a:t>424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0487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SKUs in the 2022-12-31 snapshot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737360"/>
            <a:ext cx="2468880" cy="1234440"/>
          </a:xfrm>
          <a:prstGeom prst="roundRect">
            <a:avLst/>
          </a:prstGeom>
          <a:solidFill>
            <a:srgbClr val="EFF4F7"/>
          </a:solidFill>
          <a:ln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54312" y="190195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176B87"/>
                </a:solidFill>
                <a:latin typeface="Aptos"/>
              </a:defRPr>
            </a:pPr>
            <a:r>
              <a:t>67.3%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40487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Records with stockout_flag enabled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290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12304A"/>
                </a:solidFill>
                <a:latin typeface="Aptos"/>
              </a:defRPr>
            </a:pPr>
            <a:r>
              <a:t>Product categories</a:t>
            </a:r>
          </a:p>
          <a:p>
            <a:pPr algn="l">
              <a:spcAft>
                <a:spcPts val="700"/>
              </a:spcAft>
              <a:defRPr sz="1600" b="1">
                <a:solidFill>
                  <a:srgbClr val="12304A"/>
                </a:solidFill>
                <a:latin typeface="Aptos"/>
              </a:defRPr>
            </a:pPr>
            <a:r>
              <a:t>• Streetwear</a:t>
            </a:r>
          </a:p>
          <a:p>
            <a:pPr algn="l">
              <a:spcAft>
                <a:spcPts val="700"/>
              </a:spcAft>
              <a:defRPr sz="1600" b="1">
                <a:solidFill>
                  <a:srgbClr val="12304A"/>
                </a:solidFill>
                <a:latin typeface="Aptos"/>
              </a:defRPr>
            </a:pPr>
            <a:r>
              <a:t>• Outdoor</a:t>
            </a:r>
          </a:p>
          <a:p>
            <a:pPr algn="l">
              <a:spcAft>
                <a:spcPts val="700"/>
              </a:spcAft>
              <a:defRPr sz="1600" b="1">
                <a:solidFill>
                  <a:srgbClr val="12304A"/>
                </a:solidFill>
                <a:latin typeface="Aptos"/>
              </a:defRPr>
            </a:pPr>
            <a:r>
              <a:t>• Casual</a:t>
            </a:r>
          </a:p>
          <a:p>
            <a:pPr algn="l">
              <a:spcAft>
                <a:spcPts val="700"/>
              </a:spcAft>
              <a:defRPr sz="1600" b="1">
                <a:solidFill>
                  <a:srgbClr val="12304A"/>
                </a:solidFill>
                <a:latin typeface="Aptos"/>
              </a:defRPr>
            </a:pPr>
            <a:r>
              <a:t>• GenZ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429000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Data quality issues requiring control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• 76.3% of records have overstock_flag enabled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• 30,495 records have both stockout + overstock enabled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• The total reorder_flag is 0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• Latest snapshot in the file: 2022-12-31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10528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9747E"/>
                </a:solidFill>
                <a:latin typeface="Aptos"/>
              </a:defRPr>
            </a:pPr>
            <a:r>
              <a:t>VietStyle Commerce • Datathon 2026 • Simulation Document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2304A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2304A"/>
                </a:solidFill>
                <a:latin typeface="Aptos"/>
              </a:defRPr>
            </a:pPr>
            <a:r>
              <a:t>02 |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Separate decision-making authority from data-entry operations.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98448"/>
            <a:ext cx="100584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1965960" cy="1508760"/>
          </a:xfrm>
          <a:prstGeom prst="roundRect">
            <a:avLst/>
          </a:prstGeom>
          <a:solidFill>
            <a:srgbClr val="EFF4F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6771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76B87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72491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36404B"/>
                </a:solidFill>
                <a:latin typeface="Aptos"/>
              </a:defRPr>
            </a:pPr>
            <a:r>
              <a:t>Forecast / campaign</a:t>
            </a:r>
          </a:p>
          <a:p>
            <a:pPr algn="ctr">
              <a:spcAft>
                <a:spcPts val="700"/>
              </a:spcAft>
              <a:defRPr sz="1100" b="0">
                <a:solidFill>
                  <a:srgbClr val="36404B"/>
                </a:solidFill>
                <a:latin typeface="Aptos"/>
              </a:defRPr>
            </a:pPr>
            <a:r>
              <a:t>ROP &amp; target stock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87752" y="25786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176B8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79" y="2057400"/>
            <a:ext cx="1965960" cy="1508760"/>
          </a:xfrm>
          <a:prstGeom prst="roundRect">
            <a:avLst/>
          </a:prstGeom>
          <a:solidFill>
            <a:srgbClr val="EFF4F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26771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76B87"/>
                </a:solidFill>
                <a:latin typeface="Aptos"/>
              </a:defRPr>
            </a:pPr>
            <a:r>
              <a:t>APPROVE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72491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36404B"/>
                </a:solidFill>
                <a:latin typeface="Aptos"/>
              </a:defRPr>
            </a:pPr>
            <a:r>
              <a:t>Budget / supplier</a:t>
            </a:r>
          </a:p>
          <a:p>
            <a:pPr algn="ctr">
              <a:spcAft>
                <a:spcPts val="700"/>
              </a:spcAft>
              <a:defRPr sz="1100" b="0">
                <a:solidFill>
                  <a:srgbClr val="36404B"/>
                </a:solidFill>
                <a:latin typeface="Aptos"/>
              </a:defRPr>
            </a:pPr>
            <a:r>
              <a:t>PO authorization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25786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176B8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2057400"/>
            <a:ext cx="1965960" cy="1508760"/>
          </a:xfrm>
          <a:prstGeom prst="roundRect">
            <a:avLst/>
          </a:prstGeom>
          <a:solidFill>
            <a:srgbClr val="EFF4F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226771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76B87"/>
                </a:solidFill>
                <a:latin typeface="Aptos"/>
              </a:defRPr>
            </a:pPr>
            <a:r>
              <a:t>RECEIVE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272491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36404B"/>
                </a:solidFill>
                <a:latin typeface="Aptos"/>
              </a:defRPr>
            </a:pPr>
            <a:r>
              <a:t>PO match</a:t>
            </a:r>
          </a:p>
          <a:p>
            <a:pPr algn="ctr">
              <a:spcAft>
                <a:spcPts val="700"/>
              </a:spcAft>
              <a:defRPr sz="1100" b="0">
                <a:solidFill>
                  <a:srgbClr val="36404B"/>
                </a:solidFill>
                <a:latin typeface="Aptos"/>
              </a:defRPr>
            </a:pPr>
            <a:r>
              <a:t>QC &amp; put-away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1192" y="25786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176B8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19" y="2057400"/>
            <a:ext cx="1965960" cy="1508760"/>
          </a:xfrm>
          <a:prstGeom prst="roundRect">
            <a:avLst/>
          </a:prstGeom>
          <a:solidFill>
            <a:srgbClr val="EFF4F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59" y="226771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76B87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7" y="272491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36404B"/>
                </a:solidFill>
                <a:latin typeface="Aptos"/>
              </a:defRPr>
            </a:pPr>
            <a:r>
              <a:t>Cycle count</a:t>
            </a:r>
          </a:p>
          <a:p>
            <a:pPr algn="ctr">
              <a:spcAft>
                <a:spcPts val="700"/>
              </a:spcAft>
              <a:defRPr sz="1100" b="0">
                <a:solidFill>
                  <a:srgbClr val="36404B"/>
                </a:solidFill>
                <a:latin typeface="Aptos"/>
              </a:defRPr>
            </a:pPr>
            <a:r>
              <a:t>Exception handling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2911" y="25786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176B8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1240" y="2057400"/>
            <a:ext cx="1965960" cy="1508760"/>
          </a:xfrm>
          <a:prstGeom prst="roundRect">
            <a:avLst/>
          </a:prstGeom>
          <a:solidFill>
            <a:srgbClr val="EFF4F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226771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76B87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30967" y="272491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36404B"/>
                </a:solidFill>
                <a:latin typeface="Aptos"/>
              </a:defRPr>
            </a:pPr>
            <a:r>
              <a:t>KPI / root cause</a:t>
            </a:r>
          </a:p>
          <a:p>
            <a:pPr algn="ctr">
              <a:spcAft>
                <a:spcPts val="700"/>
              </a:spcAft>
              <a:defRPr sz="1100" b="0">
                <a:solidFill>
                  <a:srgbClr val="36404B"/>
                </a:solidFill>
                <a:latin typeface="Aptos"/>
              </a:defRPr>
            </a:pPr>
            <a:r>
              <a:t>Forecast update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25196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2304A"/>
                </a:solidFill>
                <a:latin typeface="Aptos"/>
              </a:defRPr>
            </a:pPr>
            <a:r>
              <a:t>Control principle: the counter ≠ the adjustment-entry person ≠ the approver. The AI Agent may only read authorized data and make recommendations; it must not issue POs or modify inventory autonomously.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9747E"/>
                </a:solidFill>
                <a:latin typeface="Aptos"/>
              </a:defRPr>
            </a:pPr>
            <a:r>
              <a:t>VietStyle Commerce • Datathon 2026 • Simulation Document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2304A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2304A"/>
                </a:solidFill>
                <a:latin typeface="Aptos"/>
              </a:defRPr>
            </a:pPr>
            <a:r>
              <a:t>03 | Replenishment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Default parameters are for simulation only and must be replaced with supplier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98448"/>
            <a:ext cx="100584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Formulas</a:t>
            </a:r>
          </a:p>
          <a:p>
            <a:pPr algn="l">
              <a:spcAft>
                <a:spcPts val="7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Inventory Position = On-hand + Open PO − Backorder</a:t>
            </a:r>
          </a:p>
          <a:p>
            <a:pPr algn="l">
              <a:spcAft>
                <a:spcPts val="700"/>
              </a:spcAft>
              <a:defRPr sz="1500" b="1">
                <a:solidFill>
                  <a:srgbClr val="12304A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ROP = Daily Demand × (Lead Time + Safety Days)</a:t>
            </a:r>
          </a:p>
          <a:p>
            <a:pPr algn="l">
              <a:spcAft>
                <a:spcPts val="700"/>
              </a:spcAft>
              <a:defRPr sz="1500" b="1">
                <a:solidFill>
                  <a:srgbClr val="12304A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Target = Daily Demand × (Lead Time + Safety Days + Review Period)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37360"/>
            <a:ext cx="4754880" cy="2377440"/>
          </a:xfrm>
          <a:prstGeom prst="roundRect">
            <a:avLst/>
          </a:prstGeom>
          <a:solidFill>
            <a:srgbClr val="EFF4F7"/>
          </a:solidFill>
          <a:ln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965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1">
                <a:solidFill>
                  <a:srgbClr val="176B87"/>
                </a:solidFill>
                <a:latin typeface="Aptos"/>
              </a:defRPr>
            </a:pPr>
            <a:r>
              <a:t>INITIAL 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423160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36404B"/>
                </a:solidFill>
                <a:latin typeface="Aptos"/>
              </a:defRPr>
            </a:pPr>
            <a:r>
              <a:t>Lead time: 14 days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36404B"/>
                </a:solidFill>
                <a:latin typeface="Aptos"/>
              </a:defRPr>
            </a:pPr>
            <a:r>
              <a:t>Safety stock: 7 days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36404B"/>
                </a:solidFill>
                <a:latin typeface="Aptos"/>
              </a:defRPr>
            </a:pPr>
            <a:r>
              <a:t>Review period: 7 days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36404B"/>
                </a:solidFill>
                <a:latin typeface="Aptos"/>
              </a:defRPr>
            </a:pPr>
            <a:r>
              <a:t>Reorder trigger: Inventory Position ≤ 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61772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963C23"/>
                </a:solidFill>
                <a:latin typeface="Aptos"/>
              </a:defRPr>
            </a:pPr>
            <a:r>
              <a:t>If a stockout/service signal exists while calculated days of supply &gt;120 days → DATA CONFLICT. Block automatic PO recommendations and verify transactions and demand before purchasing.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9747E"/>
                </a:solidFill>
                <a:latin typeface="Aptos"/>
              </a:defRPr>
            </a:pPr>
            <a:r>
              <a:t>VietStyle Commerce • Datathon 2026 • Simulation Document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2304A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2304A"/>
                </a:solidFill>
                <a:latin typeface="Aptos"/>
              </a:defRPr>
            </a:pPr>
            <a:r>
              <a:t>04 | Cycle Counting &amp; Adjustments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ABC is based on annual consumption value, not quantity alone.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98448"/>
            <a:ext cx="100584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2926080" cy="1371600"/>
          </a:xfrm>
          <a:prstGeom prst="round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659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GROUP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~80% of consumption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88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Weekly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28800"/>
            <a:ext cx="2926080" cy="1371600"/>
          </a:xfrm>
          <a:prstGeom prst="round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9659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GROUP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Next ~15%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788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Monthly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2926080" cy="1371600"/>
          </a:xfrm>
          <a:prstGeom prst="roundRect">
            <a:avLst/>
          </a:prstGeom>
          <a:solidFill>
            <a:srgbClr val="60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9659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GROUP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Remaining ~5%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788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Quarterly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10515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Process: prepare list → blind count → independent recount → reconcile receipts/picks/returns/transfers → record cause → approve → adjust with an audit trail.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Never delete old transactions; every adjustment needs a ticket ID, data-entry person, approver, timestamp, and evidence.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9747E"/>
                </a:solidFill>
                <a:latin typeface="Aptos"/>
              </a:defRPr>
            </a:pPr>
            <a:r>
              <a:t>VietStyle Commerce • Datathon 2026 • Simulation Document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2304A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2304A"/>
                </a:solidFill>
                <a:latin typeface="Aptos"/>
              </a:defRPr>
            </a:pPr>
            <a:r>
              <a:t>05 | Excess Stock, Returns &amp; Quarantine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High inventory does not mean goods are available for sale.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98448"/>
            <a:ext cx="100584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37560" cy="2057400"/>
          </a:xfrm>
          <a:prstGeom prst="roundRect">
            <a:avLst/>
          </a:prstGeom>
          <a:solidFill>
            <a:srgbClr val="FFF2CC"/>
          </a:solidFill>
          <a:ln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2304A"/>
                </a:solidFill>
                <a:latin typeface="Aptos"/>
              </a:defRPr>
            </a:pPr>
            <a:r>
              <a:t>DAYS OF SUPPLY &gt;120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36404B"/>
                </a:solidFill>
                <a:latin typeface="Aptos"/>
              </a:defRPr>
            </a:pPr>
            <a:r>
              <a:t>Pause replenishment; check the forecast, size/color mix, and in-transit goods.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828800"/>
            <a:ext cx="3337560" cy="2057400"/>
          </a:xfrm>
          <a:prstGeom prst="roundRect">
            <a:avLst/>
          </a:prstGeom>
          <a:solidFill>
            <a:srgbClr val="FCE4D6"/>
          </a:solidFill>
          <a:ln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05740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2304A"/>
                </a:solidFill>
                <a:latin typeface="Aptos"/>
              </a:defRPr>
            </a:pPr>
            <a:r>
              <a:t>&gt;180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651760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36404B"/>
                </a:solidFill>
                <a:latin typeface="Aptos"/>
              </a:defRPr>
            </a:pPr>
            <a:r>
              <a:t>Plan transfers, bundles, markdowns, or approved disposal.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828800"/>
            <a:ext cx="3337560" cy="2057400"/>
          </a:xfrm>
          <a:prstGeom prst="roundRect">
            <a:avLst/>
          </a:prstGeom>
          <a:solidFill>
            <a:srgbClr val="EFF4F7"/>
          </a:solidFill>
          <a:ln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05740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2304A"/>
                </a:solidFill>
                <a:latin typeface="Aptos"/>
              </a:defRPr>
            </a:pPr>
            <a:r>
              <a:t>RETURNS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651760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36404B"/>
                </a:solidFill>
                <a:latin typeface="Aptos"/>
              </a:defRPr>
            </a:pPr>
            <a:r>
              <a:t>Quarantine → QA → A-grade resale / B-grade repair / C-grade handled separately.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Returned goods may be added to available inventory only after QA confirms condition and updates disposition.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510528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9747E"/>
                </a:solidFill>
                <a:latin typeface="Aptos"/>
              </a:defRPr>
            </a:pPr>
            <a:r>
              <a:t>VietStyle Commerce • Datathon 2026 • Simulation Document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2304A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2304A"/>
                </a:solidFill>
                <a:latin typeface="Aptos"/>
              </a:defRPr>
            </a:pPr>
            <a:r>
              <a:t>06 | Promotions &amp;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Inventory must be planned before a campaign launches.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98448"/>
            <a:ext cx="100584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Before campaign (T−4 weeks)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• Forecast by SKU / size / color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• Check stock, POs, lead time, and MOQ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• Confirm discount, channel, and stackable flag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• Approve target-stock increases if needed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After campaign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• Sell-through / remaining stock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• Return rate and return reasons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• Forecast error and corrective 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331720" cy="960120"/>
          </a:xfrm>
          <a:prstGeom prst="roundRect">
            <a:avLst/>
          </a:prstGeom>
          <a:solidFill>
            <a:srgbClr val="EFF4F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6208" y="1965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76B87"/>
                </a:solidFill>
                <a:latin typeface="Aptos"/>
              </a:defRPr>
            </a:pPr>
            <a:r>
              <a:t>Fill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23042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≥98% simulated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828800"/>
            <a:ext cx="2331720" cy="960120"/>
          </a:xfrm>
          <a:prstGeom prst="roundRect">
            <a:avLst/>
          </a:prstGeom>
          <a:solidFill>
            <a:srgbClr val="EFF4F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87967" y="1965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76B87"/>
                </a:solidFill>
                <a:latin typeface="Aptos"/>
              </a:defRPr>
            </a:pPr>
            <a:r>
              <a:t>Inventory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7" y="23042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≥98% simulated target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154680"/>
            <a:ext cx="2331720" cy="960120"/>
          </a:xfrm>
          <a:prstGeom prst="roundRect">
            <a:avLst/>
          </a:prstGeom>
          <a:solidFill>
            <a:srgbClr val="EFF4F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3291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76B87"/>
                </a:solidFill>
                <a:latin typeface="Aptos"/>
              </a:defRPr>
            </a:pPr>
            <a:r>
              <a:t>Stockout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36301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&lt;2% simulated target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3154680"/>
            <a:ext cx="2331720" cy="960120"/>
          </a:xfrm>
          <a:prstGeom prst="roundRect">
            <a:avLst/>
          </a:prstGeom>
          <a:solidFill>
            <a:srgbClr val="EFF4F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87967" y="3291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76B87"/>
                </a:solidFill>
                <a:latin typeface="Aptos"/>
              </a:defRPr>
            </a:pPr>
            <a:r>
              <a:t>Aged stock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7" y="36301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&gt;180 days requires a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47548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963C23"/>
                </a:solidFill>
                <a:latin typeface="Aptos"/>
              </a:defRPr>
            </a:pPr>
            <a:r>
              <a:t>KPIs are simulated thresholds and must be calibrated to margin and service levels.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10528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9747E"/>
                </a:solidFill>
                <a:latin typeface="Aptos"/>
              </a:defRPr>
            </a:pPr>
            <a:r>
              <a:t>VietStyle Commerce • Datathon 2026 • Simulation Document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2304A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07 | Clean Data Before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For the Inventory / RAG Agent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1. Retain the snapshot date and source file.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2. Include policy_id and source citations in answers.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3. Do not guess lead time / currency / PO.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4. Conflicting data → DATA CONFLICT.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5. Do not autonomously write POs or adjust inventory.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41732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DCEAF2"/>
                </a:solidFill>
                <a:latin typeface="Aptos"/>
              </a:defRPr>
            </a:pPr>
            <a:r>
              <a:t>Implementation Roadmap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DCEAF2"/>
                </a:solidFill>
                <a:latin typeface="Aptos"/>
              </a:defRPr>
            </a:pPr>
            <a:r>
              <a:t>• Standardize master SKU / size / color data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DCEAF2"/>
                </a:solidFill>
                <a:latin typeface="Aptos"/>
              </a:defRPr>
            </a:pPr>
            <a:r>
              <a:t>• Confirm flag definitions and units of measure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DCEAF2"/>
                </a:solidFill>
                <a:latin typeface="Aptos"/>
              </a:defRPr>
            </a:pPr>
            <a:r>
              <a:t>• Add inbound PO, backorder, lead time, and MOQ data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DCEAF2"/>
                </a:solidFill>
                <a:latin typeface="Aptos"/>
              </a:defRPr>
            </a:pPr>
            <a:r>
              <a:t>• Pilot on class A / high-risk SKUs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DCEAF2"/>
                </a:solidFill>
                <a:latin typeface="Aptos"/>
              </a:defRPr>
            </a:pPr>
            <a:r>
              <a:t>• Monitor KPIs and approve policy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66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7FCCDD"/>
                </a:solidFill>
                <a:latin typeface="Aptos"/>
              </a:defRPr>
            </a:pPr>
            <a:r>
              <a:t>Conclusion: automate only after verifying data sources, access permissions, and approval workflows.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80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DCEAF2"/>
                </a:solidFill>
                <a:latin typeface="Aptos"/>
              </a:defRPr>
            </a:pPr>
            <a:r>
              <a:t>Datathon 2026 Simulation Document • v1.0 | 16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9747E"/>
                </a:solidFill>
                <a:latin typeface="Aptos"/>
              </a:defRPr>
            </a:pPr>
            <a:r>
              <a:t>VietStyle Commerce • Datathon 2026 • Simulation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2304A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