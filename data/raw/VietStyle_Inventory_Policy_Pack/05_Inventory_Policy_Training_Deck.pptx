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640080"/>
            <a:ext cx="2743200" cy="14630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960120"/>
            <a:ext cx="1920240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1280160"/>
            <a:ext cx="3108960" cy="146304"/>
          </a:xfrm>
          <a:prstGeom prst="rect">
            <a:avLst/>
          </a:prstGeom>
          <a:solidFill>
            <a:srgbClr val="60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7FCCDD"/>
                </a:solidFill>
                <a:latin typeface="Aptos"/>
              </a:defRPr>
            </a:pPr>
            <a:r>
              <a:t>VIETSTYLE 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INVENTORY CONTROL</a:t>
            </a:r>
          </a:p>
          <a:p>
            <a:pPr algn="l">
              <a:spcAft>
                <a:spcPts val="7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POLICY &amp; OPERATING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DCEAF2"/>
                </a:solidFill>
                <a:latin typeface="Aptos"/>
              </a:defRPr>
            </a:pPr>
            <a:r>
              <a:t>Chính sách • Quy trình • Tồn kho • Ngoại lệ • Kiểm soát dữ liệu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DCEAF2"/>
                </a:solidFill>
                <a:latin typeface="Aptos"/>
              </a:defRPr>
            </a:pPr>
            <a:r>
              <a:t>v1.0 | 16/10/2026 | Mô phỏng Datathon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FFDA96"/>
                </a:solidFill>
                <a:latin typeface="Aptos"/>
              </a:defRPr>
            </a:pPr>
            <a:r>
              <a:t>Dùng cho đào tạo và thiết kế quy trình; không phải chính sách đã được phê duyệt.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Tài liệu mô phỏng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01 | Bối cảnh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Dataset là cơ sở mô phỏng; không phản ánh tồn kho hiện tại.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0584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2468880" cy="1234440"/>
          </a:xfrm>
          <a:prstGeom prst="roundRect">
            <a:avLst/>
          </a:prstGeom>
          <a:solidFill>
            <a:srgbClr val="EFF4F7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019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176B87"/>
                </a:solidFill>
                <a:latin typeface="Aptos"/>
              </a:defRPr>
            </a:pPr>
            <a:r>
              <a:t>2,412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SKU trong product master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737360"/>
            <a:ext cx="2468880" cy="1234440"/>
          </a:xfrm>
          <a:prstGeom prst="roundRect">
            <a:avLst/>
          </a:prstGeom>
          <a:solidFill>
            <a:srgbClr val="EFF4F7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19019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176B87"/>
                </a:solidFill>
                <a:latin typeface="Aptos"/>
              </a:defRPr>
            </a:pPr>
            <a:r>
              <a:t>60,247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048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Bản ghi inventory theo snapshot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737360"/>
            <a:ext cx="2468880" cy="1234440"/>
          </a:xfrm>
          <a:prstGeom prst="roundRect">
            <a:avLst/>
          </a:prstGeom>
          <a:solidFill>
            <a:srgbClr val="EFF4F7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9019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176B87"/>
                </a:solidFill>
                <a:latin typeface="Aptos"/>
              </a:defRPr>
            </a:pPr>
            <a:r>
              <a:t>424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048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SKU có snapshot 31/12/2022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1737360"/>
            <a:ext cx="2468880" cy="1234440"/>
          </a:xfrm>
          <a:prstGeom prst="roundRect">
            <a:avLst/>
          </a:prstGeom>
          <a:solidFill>
            <a:srgbClr val="EFF4F7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54312" y="1901952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176B87"/>
                </a:solidFill>
                <a:latin typeface="Aptos"/>
              </a:defRPr>
            </a:pPr>
            <a:r>
              <a:t>67.3%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4048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Bản ghi bật stockout_flag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Nhóm hàng</a:t>
            </a:r>
          </a:p>
          <a:p>
            <a:pPr algn="l">
              <a:spcAft>
                <a:spcPts val="7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• Streetwear</a:t>
            </a:r>
          </a:p>
          <a:p>
            <a:pPr algn="l">
              <a:spcAft>
                <a:spcPts val="7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• Outdoor</a:t>
            </a:r>
          </a:p>
          <a:p>
            <a:pPr algn="l">
              <a:spcAft>
                <a:spcPts val="7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• Casual</a:t>
            </a:r>
          </a:p>
          <a:p>
            <a:pPr algn="l">
              <a:spcAft>
                <a:spcPts val="7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• GenZ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42900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Vấn đề dữ liệu cần kiểm soát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76.3% bản ghi bật overstock_flag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30,495 bản ghi bật đồng thời stockout + overstock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reorder_flag có tổng bằng 0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Snapshot mới nhất trong file: 2022-12-31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Tài liệu mô phỏng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02 | Mô hình vận hành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Tách quyền ra quyết định khỏi thao tác nhập liệu.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0584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1965960" cy="150876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677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76B87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7249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Forecast / campaign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ROP &amp; target 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7752" y="2578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76B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2057400"/>
            <a:ext cx="1965960" cy="150876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2677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76B87"/>
                </a:solidFill>
                <a:latin typeface="Aptos"/>
              </a:defRPr>
            </a:pPr>
            <a:r>
              <a:t>APPROVE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7249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Budget / supplier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PO authorization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2578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76B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057400"/>
            <a:ext cx="1965960" cy="150876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22677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76B87"/>
                </a:solidFill>
                <a:latin typeface="Aptos"/>
              </a:defRPr>
            </a:pPr>
            <a:r>
              <a:t>RECEIVE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7249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PO match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QC &amp; put-away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1192" y="2578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76B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19" y="2057400"/>
            <a:ext cx="1965960" cy="150876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59" y="22677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76B87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7" y="27249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Cycle count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Exception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2911" y="2578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76B8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2057400"/>
            <a:ext cx="1965960" cy="150876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2267712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76B87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7" y="272491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KPI / root cause</a:t>
            </a:r>
          </a:p>
          <a:p>
            <a:pPr algn="ctr">
              <a:spcAft>
                <a:spcPts val="700"/>
              </a:spcAft>
              <a:defRPr sz="1100" b="0">
                <a:solidFill>
                  <a:srgbClr val="36404B"/>
                </a:solidFill>
                <a:latin typeface="Aptos"/>
              </a:defRPr>
            </a:pPr>
            <a:r>
              <a:t>Forecast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5196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12304A"/>
                </a:solidFill>
                <a:latin typeface="Aptos"/>
              </a:defRPr>
            </a:pPr>
            <a:r>
              <a:t>Nguyên tắc kiểm soát: người đếm ≠ người nhập điều chỉnh ≠ người duyệt. AI Agent chỉ đọc dữ liệu được phân quyền và đề xuất; không tự phát hành PO hoặc tự sửa tồn kho.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Tài liệu mô phỏng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03 | Quy tắc bổ sung hàng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Thông số mặc định chỉ để mô phỏng; cần thay bằng dữ liệu nhà cung cấp.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0584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Công thức</a:t>
            </a:r>
          </a:p>
          <a:p>
            <a:pPr algn="l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Inventory Position = On-hand + Open PO − Backorder</a:t>
            </a:r>
          </a:p>
          <a:p>
            <a:pPr algn="l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ROP = Daily Demand × (Lead Time + Safety Days)</a:t>
            </a:r>
          </a:p>
          <a:p>
            <a:pPr algn="l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Target = Daily Demand × (Lead Time + Safety Days + Review Period)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4754880" cy="2377440"/>
          </a:xfrm>
          <a:prstGeom prst="roundRect">
            <a:avLst/>
          </a:prstGeom>
          <a:solidFill>
            <a:srgbClr val="EFF4F7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965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176B87"/>
                </a:solidFill>
                <a:latin typeface="Aptos"/>
              </a:defRPr>
            </a:pPr>
            <a:r>
              <a:t>THAM SỐ KHỞI TẠO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423160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36404B"/>
                </a:solidFill>
                <a:latin typeface="Aptos"/>
              </a:defRPr>
            </a:pPr>
            <a:r>
              <a:t>Lead time: 14 ngày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6404B"/>
                </a:solidFill>
                <a:latin typeface="Aptos"/>
              </a:defRPr>
            </a:pPr>
            <a:r>
              <a:t>Safety stock: 7 ngày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6404B"/>
                </a:solidFill>
                <a:latin typeface="Aptos"/>
              </a:defRPr>
            </a:pPr>
            <a:r>
              <a:t>Review period: 7 ngày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36404B"/>
                </a:solidFill>
                <a:latin typeface="Aptos"/>
              </a:defRPr>
            </a:pPr>
            <a:r>
              <a:t>Reorder trigger: Inventory Position ≤ 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177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963C23"/>
                </a:solidFill>
                <a:latin typeface="Aptos"/>
              </a:defRPr>
            </a:pPr>
            <a:r>
              <a:t>Nếu có stockout/service signal nhưng calculated days of supply &gt;120 ngày → DATA CONFLICT. Khóa đề xuất PO tự động, xác minh giao dịch và nhu cầu trước khi mua.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Tài liệu mô phỏng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04 | Kiểm kê chu kỳ &amp; điều chỉnh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ABC dựa trên giá trị tiêu thụ năm, không chỉ dựa vào số lượng.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0584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926080" cy="1371600"/>
          </a:xfrm>
          <a:prstGeom prst="round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NHÓM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~80% giá trị tiêu thụ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Hằng tuần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2926080" cy="1371600"/>
          </a:xfrm>
          <a:prstGeom prst="round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NHÓM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~15% tiếp theo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Hằng tháng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2926080" cy="1371600"/>
          </a:xfrm>
          <a:prstGeom prst="roundRect">
            <a:avLst/>
          </a:prstGeom>
          <a:solidFill>
            <a:srgbClr val="60A6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NHÓM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23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~5% còn lại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788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Hằng quý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40480"/>
            <a:ext cx="10515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Quy trình: chuẩn bị danh sách → blind count → recount độc lập → đối chiếu receipts/picks/returns/transfers → ghi nguyên nhân → duyệt → điều chỉnh có audit trail.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Không xóa giao dịch cũ; mọi điều chỉnh cần mã phiếu, người nhập, người duyệt, thời điểm và bằng chứng.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Tài liệu mô phỏng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05 | Dư thừa, trả hàng và cách 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Tồn kho cao không có nghĩa là hàng sẵn sàng bán.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0584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37560" cy="2057400"/>
          </a:xfrm>
          <a:prstGeom prst="roundRect">
            <a:avLst/>
          </a:prstGeom>
          <a:solidFill>
            <a:srgbClr val="FFF2CC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2304A"/>
                </a:solidFill>
                <a:latin typeface="Aptos"/>
              </a:defRPr>
            </a:pPr>
            <a:r>
              <a:t>DAYS OF SUPPLY &gt;120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36404B"/>
                </a:solidFill>
                <a:latin typeface="Aptos"/>
              </a:defRPr>
            </a:pPr>
            <a:r>
              <a:t>Tạm dừng bổ sung; kiểm tra forecast, size/màu và hàng đang chuyển.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337560" cy="2057400"/>
          </a:xfrm>
          <a:prstGeom prst="roundRect">
            <a:avLst/>
          </a:prstGeom>
          <a:solidFill>
            <a:srgbClr val="FCE4D6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0574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2304A"/>
                </a:solidFill>
                <a:latin typeface="Aptos"/>
              </a:defRPr>
            </a:pPr>
            <a:r>
              <a:t>&gt;180 NGÀY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36404B"/>
                </a:solidFill>
                <a:latin typeface="Aptos"/>
              </a:defRPr>
            </a:pPr>
            <a:r>
              <a:t>Lập kế hoạch chuyển kho, bundle, markdown hoặc thanh lý có phê duyệt.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337560" cy="2057400"/>
          </a:xfrm>
          <a:prstGeom prst="roundRect">
            <a:avLst/>
          </a:prstGeom>
          <a:solidFill>
            <a:srgbClr val="EFF4F7"/>
          </a:solidFill>
          <a:ln>
            <a:solidFill>
              <a:srgbClr val="D5D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0574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2304A"/>
                </a:solidFill>
                <a:latin typeface="Aptos"/>
              </a:defRPr>
            </a:pPr>
            <a:r>
              <a:t>HÀNG TRẢ VỀ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651760"/>
            <a:ext cx="2880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36404B"/>
                </a:solidFill>
                <a:latin typeface="Aptos"/>
              </a:defRPr>
            </a:pPr>
            <a:r>
              <a:t>Quarantine → QA → A-grade bán lại / B-grade sửa / C-grade xử lý riêng.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500" b="1">
                <a:solidFill>
                  <a:srgbClr val="12304A"/>
                </a:solidFill>
                <a:latin typeface="Aptos"/>
              </a:defRPr>
            </a:pPr>
            <a:r>
              <a:t>Hàng trả về chỉ được cộng vào tồn khả dụng sau khi QA xác nhận tình trạng và cập nhật disposition.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Tài liệu mô phỏng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600" b="1">
                <a:solidFill>
                  <a:srgbClr val="12304A"/>
                </a:solidFill>
                <a:latin typeface="Aptos"/>
              </a:defRPr>
            </a:pPr>
            <a:r>
              <a:t>06 | Khuyến mãi và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Campaign phải có kế hoạch tồn kho trước khi chạy.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100584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Trước campaign (T−4 tuần)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Forecast theo SKU / size / màu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Kiểm tra stock, PO, lead time, MOQ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Xác nhận discount, channel, stackable flag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Duyệt tăng target stock nếu cần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Sau campaign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Sell-through / tồn còn lại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Return rate và lý do trả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6404B"/>
                </a:solidFill>
                <a:latin typeface="Aptos"/>
              </a:defRPr>
            </a:pPr>
            <a:r>
              <a:t>• Sai số forecast và hành động điều chỉnh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331720" cy="96012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8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76B87"/>
                </a:solidFill>
                <a:latin typeface="Aptos"/>
              </a:defRPr>
            </a:pPr>
            <a:r>
              <a:t>Fill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23042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≥98% mục tiêu giả lập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828800"/>
            <a:ext cx="2331720" cy="96012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87967" y="1965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76B87"/>
                </a:solidFill>
                <a:latin typeface="Aptos"/>
              </a:defRPr>
            </a:pPr>
            <a:r>
              <a:t>Inventory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7" y="23042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≥98% mục tiêu giả lập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154680"/>
            <a:ext cx="2331720" cy="96012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3291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76B87"/>
                </a:solidFill>
                <a:latin typeface="Aptos"/>
              </a:defRPr>
            </a:pPr>
            <a:r>
              <a:t>Stockout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36301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&lt;2% mục tiêu giả lập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3154680"/>
            <a:ext cx="2331720" cy="960120"/>
          </a:xfrm>
          <a:prstGeom prst="roundRect">
            <a:avLst/>
          </a:prstGeom>
          <a:solidFill>
            <a:srgbClr val="EFF4F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7" y="3291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176B87"/>
                </a:solidFill>
                <a:latin typeface="Aptos"/>
              </a:defRPr>
            </a:pPr>
            <a:r>
              <a:t>Aged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7" y="36301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36404B"/>
                </a:solidFill>
                <a:latin typeface="Aptos"/>
              </a:defRPr>
            </a:pPr>
            <a:r>
              <a:t>&gt;180 ngày phải có kế hoạch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7548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963C23"/>
                </a:solidFill>
                <a:latin typeface="Aptos"/>
              </a:defRPr>
            </a:pPr>
            <a:r>
              <a:t>KPI là ngưỡng mô phỏng, cần hiệu chỉnh theo margin và mức dịch vụ.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Tài liệu mô phỏng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07 | Dữ liệu sạch trước khi tự động hóa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Đối với Inventory / RAG Agent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1. Giữ snapshot date và source file.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2. Trả lời kèm policy_id và trích dẫn nguồn.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3. Không suy đoán lead time / currency / PO.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4. Mâu thuẫn → DATA CONFLICT.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5. Không tự ghi PO hoặc điều chỉnh tồn.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41732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DCEAF2"/>
                </a:solidFill>
                <a:latin typeface="Aptos"/>
              </a:defRPr>
            </a:pPr>
            <a:r>
              <a:t>Lộ trình triển khai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DCEAF2"/>
                </a:solidFill>
                <a:latin typeface="Aptos"/>
              </a:defRPr>
            </a:pPr>
            <a:r>
              <a:t>• Chuẩn hóa master SKU / size / color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DCEAF2"/>
                </a:solidFill>
                <a:latin typeface="Aptos"/>
              </a:defRPr>
            </a:pPr>
            <a:r>
              <a:t>• Xác nhận định nghĩa flags và đơn vị đo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DCEAF2"/>
                </a:solidFill>
                <a:latin typeface="Aptos"/>
              </a:defRPr>
            </a:pPr>
            <a:r>
              <a:t>• Bổ sung PO inbound, backorder, lead time, MOQ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DCEAF2"/>
                </a:solidFill>
                <a:latin typeface="Aptos"/>
              </a:defRPr>
            </a:pPr>
            <a:r>
              <a:t>• Pilot trên nhóm A / SKU rủi ro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DCEAF2"/>
                </a:solidFill>
                <a:latin typeface="Aptos"/>
              </a:defRPr>
            </a:pPr>
            <a:r>
              <a:t>• Theo dõi KPI và duyệt thay đổi chính sách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7FCCDD"/>
                </a:solidFill>
                <a:latin typeface="Aptos"/>
              </a:defRPr>
            </a:pPr>
            <a:r>
              <a:t>Kết luận: tự động hóa chỉ sau khi xác minh nguồn dữ liệu, quyền truy cập và luồng phê duyệt.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80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900" b="0">
                <a:solidFill>
                  <a:srgbClr val="DCEAF2"/>
                </a:solidFill>
                <a:latin typeface="Aptos"/>
              </a:defRPr>
            </a:pPr>
            <a:r>
              <a:t>Tài liệu mô phỏng Datathon 2026 • v1.0 | 16/10/2026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510528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800" b="0">
                <a:solidFill>
                  <a:srgbClr val="69747E"/>
                </a:solidFill>
                <a:latin typeface="Aptos"/>
              </a:defRPr>
            </a:pPr>
            <a:r>
              <a:t>VietStyle Commerce • Datathon 2026 • Tài liệu mô phỏng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2304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